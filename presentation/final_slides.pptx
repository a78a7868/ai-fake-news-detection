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AI-Powered Fake News Detection</a:t>
            </a:r>
            <a:br/>
            <a:r>
              <a:t>Using Text Classification</a:t>
            </a:r>
          </a:p>
          <a:p>
            <a:br/>
            <a:pPr algn="ctr">
              <a:defRPr sz="1800">
                <a:solidFill>
                  <a:srgbClr val="35A2EB"/>
                </a:solidFill>
                <a:latin typeface="Arial"/>
              </a:defRPr>
            </a:pPr>
            <a:r>
              <a:t>Summer Internship Program in AI &amp; ML, 2026 (Project - 1)</a:t>
            </a:r>
          </a:p>
          <a:p>
            <a:br/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Anand Krishna G R Nair</a:t>
            </a:r>
            <a:br/>
            <a:r>
              <a:t>Indian Institute of Computing and Technology (IICT)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Misinformation is a significant societal challenge that spreads rapidly across digital networks.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Automating detection is essential given the vast daily volume of news articles.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Project Objective: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Build a complete text classification pipeline from scratch to categorize articles.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Implement manual regex tokenization to avoid library dependencies (e.g. NLTK/spaCy tokenizers).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Extract robust features using Bag-of-Words and TF-IDF representations.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Assess and compare four distinct classifier families on validation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Dataset Description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Data Source: ISOT Fake and Real News Dataset (Bisaillon 2020).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Corpus Size: 39,098 articles after duplicate removal (dropped 5,795 rows).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Class Distribution: 17,902 Fake (45.79%) / 21,196 Real (54.21%).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Cleaning Pipeline (src/preprocessing.py):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Lowercase conversion and URL strip via regex.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Manual token extraction using re.findall(r'\b[a-z]+\b', text).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Stopword filtering and single-letter removal.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Exclusion of Subject column to prevent data leakage.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34747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Extraction &amp; Sparsity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Vectorization (src/features.py):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Vocabulary restricted to the top 5,000 most frequent unigram tokens.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Compared Bag-of-Words counts against TF-IDF features.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Matrix Sparsity Check: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Train split: 31,278 rows x 5,000 columns (80% stratified partition).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Computed sparsity ratio: 97.3640% - only 2.636% of cells are non-zero.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Demands Compressed Sparse Row (CSR) formats to save memory and optimize fit speed.</a:t>
            </a:r>
          </a:p>
        </p:txBody>
      </p:sp>
      <p:pic>
        <p:nvPicPr>
          <p:cNvPr id="5" name="Picture 4" descr="top_tfidf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34747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Classifier Architectures &amp; Training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Classifiers Used (src/models.py):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KNN: K=5 (Uniform weights)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Logistic Regression: max_iter=1000, random_state=42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Random Forest: 100 trees, random_state=42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MLP NeuralNet: hidden_layer_sizes=(100,), max_iter=300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Training Times on Stratified Train Split (31,278 rows):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KNN: 0.0152s (Deferred fit cost)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Logistic Regression: 0.1174s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Random Forest: 14.5721s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NeuralNet (MLP): 30.9381s</a:t>
            </a:r>
          </a:p>
        </p:txBody>
      </p:sp>
      <p:pic>
        <p:nvPicPr>
          <p:cNvPr id="5" name="Picture 4" descr="training_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34747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Model Performance Comparison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35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Acc.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Prec.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Rec.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Inf.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KNN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88.29%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85.15%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6.55s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LogReg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98.24%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97.83%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98.94%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98.38%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2.5ms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RandForest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97.95%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99.06%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NeuralNet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98.41%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98.17%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98.91%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98.54%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25.3ms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KNN+LSA*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91.93%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0.52ms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931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Performance Insights: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NeuralNet achieves the highest baseline accuracy of 98.41% after dateline leakage removal.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Logistic Regression is 60x faster at inference than RF, reaching 98.62% accuracy when tuned.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KNN Cosine Tuning improves accuracy to 88.29% (from 87.69%). KNN+LSA raises it to 91.06%.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374903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Confusion Matrices (7,820 Test Articles)</a:t>
            </a:r>
          </a:p>
        </p:txBody>
      </p:sp>
      <p:pic>
        <p:nvPicPr>
          <p:cNvPr id="4" name="Picture 3" descr="confusion_matrix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291840" cy="2377440"/>
          </a:xfrm>
          <a:prstGeom prst="rect">
            <a:avLst/>
          </a:prstGeom>
        </p:spPr>
      </p:pic>
      <p:pic>
        <p:nvPicPr>
          <p:cNvPr id="5" name="Picture 4" descr="confusion_matrix_Log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3291840" cy="2377440"/>
          </a:xfrm>
          <a:prstGeom prst="rect">
            <a:avLst/>
          </a:prstGeom>
        </p:spPr>
      </p:pic>
      <p:pic>
        <p:nvPicPr>
          <p:cNvPr id="6" name="Picture 5" descr="confusion_matrix_Random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3291840" cy="2377440"/>
          </a:xfrm>
          <a:prstGeom prst="rect">
            <a:avLst/>
          </a:prstGeom>
        </p:spPr>
      </p:pic>
      <p:pic>
        <p:nvPicPr>
          <p:cNvPr id="7" name="Picture 6" descr="confusion_matrix_Neural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931920"/>
            <a:ext cx="3291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Findings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Parametric vs. Non-Parametric Trade-offs: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KNN must retain the entire training matrix in memory for distance queries; using a sparse Compressed Sparse Row (CSR) format reduces this RAM footprint to 47.30 MB, compared to 1.19 GB if stored as a dense matrix (inference latency: 6.38s).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Random Forest stores 100 deep trees (~40 MB disk size), delivering top accuracy but consuming large storage.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Logistic Regression only stores 5,000 weight coordinates, making it extremely lightweight (&lt;100 KB) and fast (2.5ms latency).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Data Leakage: Source Tags (Reuters):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Real articles from the ISOT dataset contain source headers (e.g., 'Reuters'). Models learn to associate these headers with legitimacy.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Stripping the token 'reuters' drops accuracy by 1.5%, demonstrating that the classifier relies partly on textual metadata rather than semantic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Project Conclusions: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An end-to-end pipeline built completely from scratch successfully trains classifiers to detect fake news.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Random Forest achieves the highest accuracy of 99.68%, but Logistic Regression is more suitable for real-time web applications due to its micro-second latency.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Limitations: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U.S. election context from 2016-2017: Vocabulary is heavily topic-biased and might not generalize well to other news cycles.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Reuters metadata tags create template dependency rather than true semantic classification.</a:t>
            </a:r>
          </a:p>
          <a:p>
            <a:pPr>
              <a:spcAft>
                <a:spcPts val="1200"/>
              </a:spcAft>
              <a:defRPr sz="1800" b="1">
                <a:solidFill>
                  <a:srgbClr val="3C3C3C"/>
                </a:solidFill>
                <a:latin typeface="Arial"/>
              </a:defRPr>
            </a:pPr>
            <a:r>
              <a:t>Future Directions: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Evaluate models on out-of-domain and current news feeds to test true generalizability.</a:t>
            </a:r>
          </a:p>
          <a:p>
            <a:pPr lvl="1">
              <a:spcAft>
                <a:spcPts val="1200"/>
              </a:spcAft>
              <a:defRPr sz="1800" b="0">
                <a:solidFill>
                  <a:srgbClr val="3C3C3C"/>
                </a:solidFill>
                <a:latin typeface="Arial"/>
              </a:defRPr>
            </a:pPr>
            <a:r>
              <a:t>Incorporate n-grams (bigrams/trigrams) and deep learning models to capture text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